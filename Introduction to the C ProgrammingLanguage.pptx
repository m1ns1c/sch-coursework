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60" d="100"/>
          <a:sy n="60" d="100"/>
        </p:scale>
        <p:origin x="448" y="184"/>
      </p:cViewPr>
      <p:guideLst>
        <p:guide orient="horz" pos="215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 lvl="0"/>
              <a:t>2026. 5. 21.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903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581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45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8.jpe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26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787400"/>
            <a:ext cx="22898100" cy="12077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87600" y="3937000"/>
            <a:ext cx="20053300" cy="5524500"/>
          </a:xfrm>
          <a:prstGeom prst="rect">
            <a:avLst/>
          </a:prstGeom>
        </p:spPr>
        <p:txBody>
          <a:bodyPr lIns="0" tIns="203199" rIns="0" bIns="203199" rtlCol="0" anchor="ctr"/>
          <a:lstStyle/>
          <a:p>
            <a:pPr lvl="0" algn="ctr">
              <a:lnSpc>
                <a:spcPct val="96279"/>
              </a:lnSpc>
            </a:pPr>
            <a:r>
              <a:rPr lang="en" sz="11703" b="0" i="0" u="none" strike="noStrike" spc="-6">
                <a:solidFill>
                  <a:srgbClr val="1D56A6"/>
                </a:solidFill>
                <a:latin typeface="SB AggroOTF Medium"/>
              </a:rPr>
              <a:t>Introduction to the C Programming Language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10223500"/>
            <a:ext cx="12192000" cy="1206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03900" y="10566400"/>
            <a:ext cx="11455400" cy="520700"/>
          </a:xfrm>
          <a:prstGeom prst="rect">
            <a:avLst/>
          </a:prstGeom>
        </p:spPr>
        <p:txBody>
          <a:bodyPr lIns="0" tIns="44703" rIns="0" bIns="44703" rtlCol="0" anchor="ctr"/>
          <a:lstStyle/>
          <a:p>
            <a:pPr lvl="0" algn="ctr">
              <a:lnSpc>
                <a:spcPct val="96279"/>
              </a:lnSpc>
            </a:pPr>
            <a:r>
              <a:rPr lang="en" sz="2933" b="0" i="0" u="none" strike="noStrike" spc="499">
                <a:solidFill>
                  <a:srgbClr val="595959"/>
                </a:solidFill>
                <a:latin typeface="SpoqaHanSans-Regular"/>
              </a:rPr>
              <a:t>A Foundational Programming Language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205066">
            <a:off x="16417104" y="521671"/>
            <a:ext cx="9001125" cy="5334000"/>
          </a:xfrm>
          <a:prstGeom prst="rect">
            <a:avLst/>
          </a:prstGeom>
        </p:spPr>
      </p:pic>
      <p:sp>
        <p:nvSpPr>
          <p:cNvPr id="7" name="TextBox 3"/>
          <p:cNvSpPr txBox="1"/>
          <p:nvPr/>
        </p:nvSpPr>
        <p:spPr>
          <a:xfrm>
            <a:off x="304799" y="380999"/>
            <a:ext cx="10515600" cy="2590800"/>
          </a:xfrm>
          <a:prstGeom prst="rect">
            <a:avLst/>
          </a:prstGeom>
        </p:spPr>
        <p:txBody>
          <a:bodyPr lIns="0" tIns="203198" rIns="0" bIns="203198" anchor="ctr"/>
          <a:lstStyle/>
          <a:p>
            <a:pPr marL="0" lvl="0" indent="0" algn="ctr" defTabSz="914400" rtl="0" eaLnBrk="1" latinLnBrk="0" hangingPunct="1">
              <a:lnSpc>
                <a:spcPct val="9627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5000" b="0" i="0" u="none" strike="noStrike" kern="1200" cap="none" spc="-6" normalizeH="0" baseline="0">
                <a:solidFill>
                  <a:schemeClr val="tx1"/>
                </a:solidFill>
                <a:latin typeface="SB AggroOTF Medium"/>
              </a:rPr>
              <a:t>team member: </a:t>
            </a:r>
            <a:r>
              <a:rPr kumimoji="0" lang="ko-KR" altLang="en-US" sz="5000" b="0" i="0" u="none" strike="noStrike" kern="1200" cap="none" spc="-6" normalizeH="0" baseline="0">
                <a:solidFill>
                  <a:schemeClr val="tx1"/>
                </a:solidFill>
                <a:latin typeface="SB AggroOTF Medium"/>
              </a:rPr>
              <a:t>주민식</a:t>
            </a:r>
            <a:r>
              <a:rPr kumimoji="0" lang="en-US" altLang="ko-KR" sz="5000" b="0" i="0" u="none" strike="noStrike" kern="1200" cap="none" spc="-6" normalizeH="0" baseline="0">
                <a:solidFill>
                  <a:schemeClr val="tx1"/>
                </a:solidFill>
                <a:latin typeface="SB AggroOTF Medium"/>
              </a:rPr>
              <a:t>,</a:t>
            </a:r>
            <a:r>
              <a:rPr kumimoji="0" lang="ko-KR" altLang="en-US" sz="5000" b="0" i="0" u="none" strike="noStrike" kern="1200" cap="none" spc="-6" normalizeH="0" baseline="0">
                <a:solidFill>
                  <a:schemeClr val="tx1"/>
                </a:solidFill>
                <a:latin typeface="SB AggroOTF Medium"/>
              </a:rPr>
              <a:t> 김예성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66752" y="9963152"/>
            <a:ext cx="2990847" cy="2990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1000" y="939799"/>
            <a:ext cx="8026400" cy="1498600"/>
          </a:xfrm>
          <a:prstGeom prst="rect">
            <a:avLst/>
          </a:prstGeom>
        </p:spPr>
        <p:txBody>
          <a:bodyPr lIns="0" tIns="128012" rIns="0" bIns="0" anchor="t"/>
          <a:lstStyle/>
          <a:p>
            <a:pPr lvl="0" algn="l">
              <a:lnSpc>
                <a:spcPct val="96279"/>
              </a:lnSpc>
              <a:defRPr/>
            </a:pPr>
            <a:r>
              <a:rPr lang="en" sz="8399" b="0" i="0" u="none" strike="noStrike" spc="-252">
                <a:solidFill>
                  <a:srgbClr val="1D56A6"/>
                </a:solidFill>
                <a:latin typeface="SB AggroOTF Bold"/>
              </a:rPr>
              <a:t>Table of Contents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18724" y="8128000"/>
            <a:ext cx="7863675" cy="3454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781800" y="8305800"/>
            <a:ext cx="1685073" cy="786367"/>
          </a:xfrm>
          <a:prstGeom prst="rect">
            <a:avLst/>
          </a:prstGeom>
        </p:spPr>
        <p:txBody>
          <a:bodyPr lIns="0" tIns="60957" rIns="0" bIns="60957" anchor="ctr"/>
          <a:lstStyle/>
          <a:p>
            <a:pPr lvl="0" algn="ctr">
              <a:lnSpc>
                <a:spcPct val="96279"/>
              </a:lnSpc>
              <a:defRPr/>
            </a:pPr>
            <a:r>
              <a:rPr lang="en" sz="3999" b="0" i="0" u="none" strike="noStrike" spc="-120">
                <a:solidFill>
                  <a:srgbClr val="1D56A6"/>
                </a:solidFill>
                <a:latin typeface="SB AggroOTF Medium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38600" y="9525000"/>
            <a:ext cx="7301984" cy="786367"/>
          </a:xfrm>
          <a:prstGeom prst="rect">
            <a:avLst/>
          </a:prstGeom>
        </p:spPr>
        <p:txBody>
          <a:bodyPr lIns="0" tIns="507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5000" b="0" i="0" u="none" strike="noStrike" spc="-40">
                <a:solidFill>
                  <a:srgbClr val="1D56A6"/>
                </a:solidFill>
                <a:latin typeface="NanumSquareRoundOTF Bold"/>
              </a:rPr>
              <a:t>Memory Management in C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73000" y="8204200"/>
            <a:ext cx="7863675" cy="3454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5598284" y="8357632"/>
            <a:ext cx="1699115" cy="786367"/>
          </a:xfrm>
          <a:prstGeom prst="rect">
            <a:avLst/>
          </a:prstGeom>
        </p:spPr>
        <p:txBody>
          <a:bodyPr lIns="0" tIns="60957" rIns="0" bIns="60957" anchor="ctr"/>
          <a:lstStyle/>
          <a:p>
            <a:pPr lvl="0" algn="ctr">
              <a:lnSpc>
                <a:spcPct val="96279"/>
              </a:lnSpc>
              <a:defRPr/>
            </a:pPr>
            <a:r>
              <a:rPr lang="en" sz="3999" b="0" i="0" u="none" strike="noStrike" spc="-160">
                <a:solidFill>
                  <a:srgbClr val="1D56A6"/>
                </a:solidFill>
                <a:latin typeface="SB AggroOTF Medium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91016" y="9296400"/>
            <a:ext cx="7301984" cy="1460396"/>
          </a:xfrm>
          <a:prstGeom prst="rect">
            <a:avLst/>
          </a:prstGeom>
        </p:spPr>
        <p:txBody>
          <a:bodyPr lIns="0" tIns="507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5000" b="0" i="0" u="none" strike="noStrike" spc="-40">
                <a:solidFill>
                  <a:srgbClr val="1D56A6"/>
                </a:solidFill>
                <a:latin typeface="NanumSquareRoundOTF Bold"/>
              </a:rPr>
              <a:t>C's Influence on Modern Programming</a:t>
            </a:r>
          </a:p>
        </p:txBody>
      </p:sp>
      <p:pic>
        <p:nvPicPr>
          <p:cNvPr id="31" name="Picture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3524" y="4013200"/>
            <a:ext cx="7863675" cy="3454400"/>
          </a:xfrm>
          <a:prstGeom prst="rect">
            <a:avLst/>
          </a:prstGeom>
        </p:spPr>
      </p:pic>
      <p:sp>
        <p:nvSpPr>
          <p:cNvPr id="32" name="TextBox 20"/>
          <p:cNvSpPr txBox="1"/>
          <p:nvPr/>
        </p:nvSpPr>
        <p:spPr>
          <a:xfrm>
            <a:off x="3420326" y="4038600"/>
            <a:ext cx="1685073" cy="786367"/>
          </a:xfrm>
          <a:prstGeom prst="rect">
            <a:avLst/>
          </a:prstGeom>
        </p:spPr>
        <p:txBody>
          <a:bodyPr lIns="0" tIns="60956" rIns="0" bIns="60956" anchor="ctr"/>
          <a:lstStyle/>
          <a:p>
            <a:pPr marL="0" lvl="0" indent="0" algn="ctr" defTabSz="914400" rtl="0" eaLnBrk="1" latinLnBrk="0" hangingPunct="1">
              <a:lnSpc>
                <a:spcPct val="9627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" sz="3999" b="0" i="0" u="none" strike="noStrike" kern="1200" cap="none" spc="-120" normalizeH="0" baseline="0">
                <a:solidFill>
                  <a:srgbClr val="1D56A6"/>
                </a:solidFill>
                <a:latin typeface="SB AggroOTF Medium"/>
              </a:rPr>
              <a:t>0</a:t>
            </a:r>
            <a:r>
              <a:rPr kumimoji="0" lang="en-US" altLang="ko-KR" sz="3999" b="0" i="0" u="none" strike="noStrike" kern="1200" cap="none" spc="-120" normalizeH="0" baseline="0">
                <a:solidFill>
                  <a:srgbClr val="1D56A6"/>
                </a:solidFill>
                <a:latin typeface="SB AggroOTF Medium"/>
              </a:rPr>
              <a:t>1</a:t>
            </a:r>
          </a:p>
        </p:txBody>
      </p:sp>
      <p:sp>
        <p:nvSpPr>
          <p:cNvPr id="33" name="TextBox 21"/>
          <p:cNvSpPr txBox="1"/>
          <p:nvPr/>
        </p:nvSpPr>
        <p:spPr>
          <a:xfrm>
            <a:off x="533400" y="5257800"/>
            <a:ext cx="7301984" cy="786367"/>
          </a:xfrm>
          <a:prstGeom prst="rect">
            <a:avLst/>
          </a:prstGeom>
        </p:spPr>
        <p:txBody>
          <a:bodyPr lIns="0" tIns="507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5000" b="0" i="0" u="none" strike="noStrike" spc="-40">
                <a:solidFill>
                  <a:srgbClr val="1D56A6"/>
                </a:solidFill>
                <a:latin typeface="NanumSquareRoundOTF Bold"/>
              </a:rPr>
              <a:t>History and Development of C</a:t>
            </a:r>
            <a:endParaRPr kumimoji="0" lang="en" sz="5000" b="0" i="0" u="none" strike="noStrike" kern="1200" cap="none" spc="-40" normalizeH="0" baseline="0">
              <a:solidFill>
                <a:srgbClr val="1D56A6"/>
              </a:solidFill>
              <a:latin typeface="NanumSquareRoundOTF Bold"/>
            </a:endParaRPr>
          </a:p>
        </p:txBody>
      </p:sp>
      <p:pic>
        <p:nvPicPr>
          <p:cNvPr id="34" name="Picture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60162" y="4013200"/>
            <a:ext cx="7863675" cy="3454400"/>
          </a:xfrm>
          <a:prstGeom prst="rect">
            <a:avLst/>
          </a:prstGeom>
        </p:spPr>
      </p:pic>
      <p:sp>
        <p:nvSpPr>
          <p:cNvPr id="35" name="TextBox 24"/>
          <p:cNvSpPr txBox="1"/>
          <p:nvPr/>
        </p:nvSpPr>
        <p:spPr>
          <a:xfrm>
            <a:off x="11635884" y="4114800"/>
            <a:ext cx="1699115" cy="786367"/>
          </a:xfrm>
          <a:prstGeom prst="rect">
            <a:avLst/>
          </a:prstGeom>
        </p:spPr>
        <p:txBody>
          <a:bodyPr lIns="0" tIns="60956" rIns="0" bIns="60956" anchor="ctr"/>
          <a:lstStyle/>
          <a:p>
            <a:pPr marL="0" lvl="0" indent="0" algn="ctr" defTabSz="914400" rtl="0" eaLnBrk="1" latinLnBrk="0" hangingPunct="1">
              <a:lnSpc>
                <a:spcPct val="9627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" sz="3999" b="0" i="0" u="none" strike="noStrike" kern="1200" cap="none" spc="-160" normalizeH="0" baseline="0">
                <a:solidFill>
                  <a:srgbClr val="1D56A6"/>
                </a:solidFill>
                <a:latin typeface="SB AggroOTF Medium"/>
              </a:rPr>
              <a:t>0</a:t>
            </a:r>
            <a:r>
              <a:rPr kumimoji="0" lang="en-US" altLang="ko-KR" sz="3999" b="0" i="0" u="none" strike="noStrike" kern="1200" cap="none" spc="-160" normalizeH="0" baseline="0">
                <a:solidFill>
                  <a:srgbClr val="1D56A6"/>
                </a:solidFill>
                <a:latin typeface="SB AggroOTF Medium"/>
              </a:rPr>
              <a:t>2</a:t>
            </a:r>
          </a:p>
        </p:txBody>
      </p:sp>
      <p:sp>
        <p:nvSpPr>
          <p:cNvPr id="36" name="TextBox 29"/>
          <p:cNvSpPr txBox="1"/>
          <p:nvPr/>
        </p:nvSpPr>
        <p:spPr>
          <a:xfrm>
            <a:off x="8541008" y="5181600"/>
            <a:ext cx="7301984" cy="1460396"/>
          </a:xfrm>
          <a:prstGeom prst="rect">
            <a:avLst/>
          </a:prstGeom>
        </p:spPr>
        <p:txBody>
          <a:bodyPr lIns="0" tIns="507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5000" b="0" i="0" u="none" strike="noStrike" spc="-40">
                <a:solidFill>
                  <a:srgbClr val="1D56A6"/>
                </a:solidFill>
                <a:latin typeface="NanumSquareRoundOTF Bold"/>
              </a:rPr>
              <a:t>Core Features and Characteristics</a:t>
            </a:r>
            <a:endParaRPr kumimoji="0" lang="en" sz="5000" b="0" i="0" u="none" strike="noStrike" kern="1200" cap="none" spc="-40" normalizeH="0" baseline="0">
              <a:solidFill>
                <a:srgbClr val="1D56A6"/>
              </a:solidFill>
              <a:latin typeface="NanumSquareRoundOTF Bold"/>
            </a:endParaRPr>
          </a:p>
        </p:txBody>
      </p:sp>
      <p:pic>
        <p:nvPicPr>
          <p:cNvPr id="37" name="Picture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91726" y="4013200"/>
            <a:ext cx="7863675" cy="3454400"/>
          </a:xfrm>
          <a:prstGeom prst="rect">
            <a:avLst/>
          </a:prstGeom>
        </p:spPr>
      </p:pic>
      <p:sp>
        <p:nvSpPr>
          <p:cNvPr id="38" name="TextBox 24"/>
          <p:cNvSpPr txBox="1"/>
          <p:nvPr/>
        </p:nvSpPr>
        <p:spPr>
          <a:xfrm>
            <a:off x="19408284" y="4114800"/>
            <a:ext cx="1699115" cy="786367"/>
          </a:xfrm>
          <a:prstGeom prst="rect">
            <a:avLst/>
          </a:prstGeom>
        </p:spPr>
        <p:txBody>
          <a:bodyPr lIns="0" tIns="60956" rIns="0" bIns="60956" anchor="ctr"/>
          <a:lstStyle/>
          <a:p>
            <a:pPr marL="0" lvl="0" indent="0" algn="ctr" defTabSz="914400" rtl="0" eaLnBrk="1" latinLnBrk="0" hangingPunct="1">
              <a:lnSpc>
                <a:spcPct val="9627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" sz="3999" b="0" i="0" u="none" strike="noStrike" kern="1200" cap="none" spc="-160" normalizeH="0" baseline="0">
                <a:solidFill>
                  <a:srgbClr val="1D56A6"/>
                </a:solidFill>
                <a:latin typeface="SB AggroOTF Medium"/>
              </a:rPr>
              <a:t>0</a:t>
            </a:r>
            <a:r>
              <a:rPr kumimoji="0" lang="en-US" altLang="ko-KR" sz="3999" b="0" i="0" u="none" strike="noStrike" kern="1200" cap="none" spc="-160" normalizeH="0" baseline="0">
                <a:solidFill>
                  <a:srgbClr val="1D56A6"/>
                </a:solidFill>
                <a:latin typeface="SB AggroOTF Medium"/>
              </a:rPr>
              <a:t>3</a:t>
            </a:r>
          </a:p>
        </p:txBody>
      </p:sp>
      <p:sp>
        <p:nvSpPr>
          <p:cNvPr id="39" name="TextBox 29"/>
          <p:cNvSpPr txBox="1"/>
          <p:nvPr/>
        </p:nvSpPr>
        <p:spPr>
          <a:xfrm>
            <a:off x="16459200" y="5029200"/>
            <a:ext cx="7301984" cy="1460396"/>
          </a:xfrm>
          <a:prstGeom prst="rect">
            <a:avLst/>
          </a:prstGeom>
        </p:spPr>
        <p:txBody>
          <a:bodyPr lIns="0" tIns="507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5000" b="0" i="0" u="none" strike="noStrike" spc="-40">
                <a:solidFill>
                  <a:srgbClr val="1D56A6"/>
                </a:solidFill>
                <a:latin typeface="NanumSquareRoundOTF Bold"/>
              </a:rPr>
              <a:t>C Language Syntax Fundamentals</a:t>
            </a:r>
            <a:endParaRPr kumimoji="0" lang="en" sz="5000" b="0" i="0" u="none" strike="noStrike" kern="1200" cap="none" spc="-40" normalizeH="0" baseline="0">
              <a:solidFill>
                <a:srgbClr val="1D56A6"/>
              </a:solidFill>
              <a:latin typeface="NanumSquareRoundOTF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46734" y="363439"/>
            <a:ext cx="18780066" cy="1304776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98542" y="363439"/>
            <a:ext cx="5568858" cy="1304776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18091" y="1905000"/>
            <a:ext cx="5525508" cy="2894274"/>
          </a:xfrm>
          <a:prstGeom prst="rect">
            <a:avLst/>
          </a:prstGeom>
        </p:spPr>
        <p:txBody>
          <a:bodyPr lIns="0" tIns="1016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8000" b="0" i="0" u="none" strike="noStrike" spc="80">
                <a:solidFill>
                  <a:srgbClr val="FFFFFF"/>
                </a:solidFill>
                <a:latin typeface="SB AggroOTF Bold"/>
              </a:rPr>
              <a:t>History </a:t>
            </a:r>
          </a:p>
          <a:p>
            <a:pPr lvl="0" algn="ctr">
              <a:lnSpc>
                <a:spcPct val="99600"/>
              </a:lnSpc>
              <a:defRPr/>
            </a:pPr>
            <a:r>
              <a:rPr lang="en" sz="8000" b="0" i="0" u="none" strike="noStrike" spc="80">
                <a:solidFill>
                  <a:srgbClr val="FFFFFF"/>
                </a:solidFill>
                <a:latin typeface="SB AggroOTF Bold"/>
              </a:rPr>
              <a:t>of C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4400" y="6858000"/>
            <a:ext cx="4511784" cy="524587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110122" y="2902889"/>
            <a:ext cx="6767678" cy="9517711"/>
          </a:xfrm>
          <a:prstGeom prst="flowChartAlternateProcess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466392" y="838199"/>
            <a:ext cx="15393608" cy="1143000"/>
          </a:xfrm>
          <a:prstGeom prst="rect">
            <a:avLst/>
          </a:prstGeom>
        </p:spPr>
        <p:txBody>
          <a:bodyPr lIns="0" tIns="0" rIns="0" bIns="47412" anchor="b"/>
          <a:lstStyle/>
          <a:p>
            <a:pPr lvl="0" algn="l">
              <a:lnSpc>
                <a:spcPct val="99600"/>
              </a:lnSpc>
              <a:defRPr/>
            </a:pPr>
            <a:r>
              <a:rPr lang="en" sz="6100" b="0" i="0" u="none" strike="noStrike">
                <a:solidFill>
                  <a:srgbClr val="1D56A6"/>
                </a:solidFill>
                <a:latin typeface="NanumSquareRoundOTF Bold"/>
              </a:rPr>
              <a:t>The Birth and Evolution of C Language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8800" y="2438400"/>
            <a:ext cx="10287001" cy="10591962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Created by Dennis Ritchie at Bell Labs in the early 1970s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Evolved from the B programming language, which was developed by Ken Thompson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Initially developed for the Unix operating system on the PDP-11 computer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First standardized as ANSI C in 1989 (X3.159-1989)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Later adopted by ISO as ISO/IEC 9899:1990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Major revisions include C99 (1999), C11 (2011), and C17 (2018)</a:t>
            </a:r>
          </a:p>
          <a:p>
            <a:pPr lvl="0" algn="l">
              <a:lnSpc>
                <a:spcPct val="124499"/>
              </a:lnSpc>
              <a:defRPr/>
            </a:pPr>
            <a:endParaRPr lang="en" sz="2900" b="0" i="0" u="none" strike="noStrike" spc="-88">
              <a:solidFill>
                <a:schemeClr val="tx1"/>
              </a:solidFill>
              <a:latin typeface="NanumSquareRoundOTF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" sz="2933" b="0" i="0" u="none" strike="noStrike" spc="-88">
                <a:solidFill>
                  <a:schemeClr val="tx1"/>
                </a:solidFill>
                <a:latin typeface="NanumSquareRoundOTF Regular"/>
              </a:rPr>
              <a:t>- Designed to be a portable, efficient, and flexible language for system programming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016000"/>
            <a:ext cx="5867400" cy="1168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0" y="1016000"/>
            <a:ext cx="16217900" cy="1168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861300" y="2819400"/>
            <a:ext cx="4686300" cy="919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700" y="1803400"/>
            <a:ext cx="2095500" cy="2095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140700" y="6057900"/>
            <a:ext cx="4127500" cy="3873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Direct memory access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Pointer arithmetic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Bit manipulation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Hardware interaction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Minimal abstraction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System-level programming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0" y="4699000"/>
            <a:ext cx="3949700" cy="571500"/>
          </a:xfrm>
          <a:prstGeom prst="rect">
            <a:avLst/>
          </a:prstGeom>
        </p:spPr>
        <p:txBody>
          <a:bodyPr lIns="0" tIns="0" rIns="0" bIns="40640" rtlCol="0" anchor="b"/>
          <a:lstStyle/>
          <a:p>
            <a:pPr lvl="0" algn="ctr">
              <a:lnSpc>
                <a:spcPct val="99600"/>
              </a:lnSpc>
            </a:pPr>
            <a:r>
              <a:rPr lang="en" sz="3200" b="0" i="0" u="none" strike="noStrike" spc="-32">
                <a:solidFill>
                  <a:srgbClr val="1D56A6"/>
                </a:solidFill>
                <a:latin typeface="NanumSquareRoundOTF Bold"/>
              </a:rPr>
              <a:t>Low-Level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12903200" y="2819400"/>
            <a:ext cx="4686300" cy="9194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195300" y="6057900"/>
            <a:ext cx="4127500" cy="44323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Small runtime footprint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Minimal overhead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Predictable performance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Close to assembly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Optimized compilation</a:t>
            </a:r>
          </a:p>
          <a:p>
            <a:pPr lvl="0" algn="ctr">
              <a:lnSpc>
                <a:spcPct val="124499"/>
              </a:lnSpc>
            </a:pPr>
            <a:r>
              <a:rPr lang="en" sz="2933" b="0" i="0" u="none" strike="noStrike" spc="-59">
                <a:solidFill>
                  <a:srgbClr val="000000">
                    <a:alpha val="61176"/>
                  </a:srgbClr>
                </a:solidFill>
                <a:latin typeface="NanumSquareRoundOTF Regular"/>
              </a:rPr>
              <a:t>- Fine control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84200" y="4699000"/>
            <a:ext cx="3949700" cy="571500"/>
          </a:xfrm>
          <a:prstGeom prst="rect">
            <a:avLst/>
          </a:prstGeom>
        </p:spPr>
        <p:txBody>
          <a:bodyPr lIns="0" tIns="0" rIns="0" bIns="40640" rtlCol="0" anchor="b"/>
          <a:lstStyle/>
          <a:p>
            <a:pPr lvl="0" algn="ctr">
              <a:lnSpc>
                <a:spcPct val="99600"/>
              </a:lnSpc>
            </a:pPr>
            <a:r>
              <a:rPr lang="en" sz="3200" b="0" i="0" u="none" strike="noStrike" spc="-32">
                <a:solidFill>
                  <a:srgbClr val="1D56A6"/>
                </a:solidFill>
                <a:latin typeface="NanumSquareRoundOTF Bold"/>
              </a:rPr>
              <a:t>Efficiency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alphaModFix amt="5000"/>
          </a:blip>
          <a:stretch>
            <a:fillRect/>
          </a:stretch>
        </p:blipFill>
        <p:spPr>
          <a:xfrm>
            <a:off x="17957800" y="2819400"/>
            <a:ext cx="4686300" cy="9194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237200" y="6057900"/>
            <a:ext cx="4127500" cy="61087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Write once, compile anywhere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Platform independen</a:t>
            </a:r>
            <a:r>
              <a:rPr lang="en-US" altLang="ko-KR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n</a:t>
            </a: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ce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Standardized language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Consistent behavior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Wide compiler support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2933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Cross-platform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26100" y="4699000"/>
            <a:ext cx="3949700" cy="571500"/>
          </a:xfrm>
          <a:prstGeom prst="rect">
            <a:avLst/>
          </a:prstGeom>
        </p:spPr>
        <p:txBody>
          <a:bodyPr lIns="0" tIns="0" rIns="0" bIns="40640" rtlCol="0" anchor="b"/>
          <a:lstStyle/>
          <a:p>
            <a:pPr lvl="0" algn="ctr">
              <a:lnSpc>
                <a:spcPct val="99600"/>
              </a:lnSpc>
            </a:pPr>
            <a:r>
              <a:rPr lang="en" sz="3200" b="0" i="0" u="none" strike="noStrike" spc="-32">
                <a:solidFill>
                  <a:srgbClr val="1D56A6"/>
                </a:solidFill>
                <a:latin typeface="NanumSquareRoundOTF Bold"/>
              </a:rPr>
              <a:t>Portability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-14891">
            <a:off x="8267700" y="5676900"/>
            <a:ext cx="38735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-14891">
            <a:off x="13322300" y="5676900"/>
            <a:ext cx="38735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 rot="-14891">
            <a:off x="18364200" y="5676900"/>
            <a:ext cx="3873500" cy="25400"/>
          </a:xfrm>
          <a:prstGeom prst="rect">
            <a:avLst/>
          </a:prstGeom>
        </p:spPr>
      </p:pic>
      <p:sp>
        <p:nvSpPr>
          <p:cNvPr id="23" name="TextBox 9"/>
          <p:cNvSpPr txBox="1"/>
          <p:nvPr/>
        </p:nvSpPr>
        <p:spPr>
          <a:xfrm>
            <a:off x="8153400" y="609599"/>
            <a:ext cx="7696200" cy="1143000"/>
          </a:xfrm>
          <a:prstGeom prst="rect">
            <a:avLst/>
          </a:prstGeom>
        </p:spPr>
        <p:txBody>
          <a:bodyPr lIns="0" tIns="0" rIns="0" bIns="47412" anchor="b"/>
          <a:lstStyle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7700" b="0" i="0" u="none" strike="noStrike" kern="1200" cap="none" spc="0" normalizeH="0" baseline="0">
                <a:solidFill>
                  <a:srgbClr val="1D56A6"/>
                </a:solidFill>
                <a:latin typeface="NanumSquareRoundOTF Bold"/>
              </a:rPr>
              <a:t>Core Features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219199" y="1352550"/>
            <a:ext cx="5410200" cy="110109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3830300" y="1409700"/>
            <a:ext cx="2933700" cy="29337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13"/>
          <a:srcRect t="8570" b="20000"/>
          <a:stretch>
            <a:fillRect/>
          </a:stretch>
        </p:blipFill>
        <p:spPr>
          <a:xfrm>
            <a:off x="8915400" y="1869830"/>
            <a:ext cx="2621280" cy="2016369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14"/>
          <a:srcRect l="28160" t="12280" r="29260" b="12870"/>
          <a:stretch>
            <a:fillRect/>
          </a:stretch>
        </p:blipFill>
        <p:spPr>
          <a:xfrm>
            <a:off x="19278600" y="2046849"/>
            <a:ext cx="2100262" cy="2067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1016000"/>
            <a:ext cx="23774398" cy="1168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tretch>
            <a:fillRect/>
          </a:stretch>
        </p:blipFill>
        <p:spPr>
          <a:xfrm>
            <a:off x="13182600" y="1943100"/>
            <a:ext cx="8305800" cy="491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15417800" y="7010400"/>
            <a:ext cx="7175500" cy="491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924800" y="7010400"/>
            <a:ext cx="7175500" cy="491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tretch>
            <a:fillRect/>
          </a:stretch>
        </p:blipFill>
        <p:spPr>
          <a:xfrm>
            <a:off x="622300" y="7023100"/>
            <a:ext cx="7175500" cy="4914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47800" y="7620000"/>
            <a:ext cx="5270500" cy="5715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0350"/>
              </a:lnSpc>
              <a:defRPr/>
            </a:pPr>
            <a:r>
              <a:rPr lang="en" sz="4000" b="0" i="0" u="none" strike="noStrike">
                <a:solidFill>
                  <a:srgbClr val="1D56A6"/>
                </a:solidFill>
                <a:latin typeface="NanumSquareRoundOTF Bold"/>
              </a:rPr>
              <a:t>Data Types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399" y="8382000"/>
            <a:ext cx="6324600" cy="26670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int, float, double, char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Arrays and pointers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structs and unions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typedef for custom types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74100" y="7467600"/>
            <a:ext cx="5270500" cy="5715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0350"/>
              </a:lnSpc>
              <a:defRPr/>
            </a:pPr>
            <a:r>
              <a:rPr lang="en" sz="4000" b="0" i="0" u="none" strike="noStrike">
                <a:solidFill>
                  <a:srgbClr val="1D56A6"/>
                </a:solidFill>
                <a:latin typeface="NanumSquareRoundOTF Bold"/>
              </a:rPr>
              <a:t>Operators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05800" y="8597900"/>
            <a:ext cx="5803900" cy="2146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Arithmetic: +, -, *, /, %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Logical: &amp;&amp;, ||, !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Bitwise: &amp;, |, ^, ~, &lt;&lt;, &gt;&gt;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73200" y="2387600"/>
            <a:ext cx="5270500" cy="571500"/>
          </a:xfrm>
          <a:prstGeom prst="rect">
            <a:avLst/>
          </a:prstGeom>
        </p:spPr>
        <p:txBody>
          <a:bodyPr anchor="b"/>
          <a:lstStyle/>
          <a:p>
            <a:pPr lvl="0" algn="r">
              <a:lnSpc>
                <a:spcPct val="120350"/>
              </a:lnSpc>
              <a:defRPr/>
            </a:pPr>
            <a:r>
              <a:rPr lang="en" sz="4000" b="0" i="0" u="none" strike="noStrike">
                <a:solidFill>
                  <a:srgbClr val="1D56A6"/>
                </a:solidFill>
                <a:latin typeface="NanumSquareRoundOTF Bold"/>
              </a:rPr>
              <a:t>Control Structures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7400" y="3187700"/>
            <a:ext cx="73914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if-else conditionals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for, while, do-while loops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switch-case statements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break and continue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94100" y="7581900"/>
            <a:ext cx="5270500" cy="571500"/>
          </a:xfrm>
          <a:prstGeom prst="rect">
            <a:avLst/>
          </a:prstGeom>
        </p:spPr>
        <p:txBody>
          <a:bodyPr anchor="b"/>
          <a:lstStyle/>
          <a:p>
            <a:pPr lvl="0" algn="ctr">
              <a:lnSpc>
                <a:spcPct val="120350"/>
              </a:lnSpc>
              <a:defRPr/>
            </a:pPr>
            <a:r>
              <a:rPr lang="en" sz="4000" b="0" i="0" u="none" strike="noStrike">
                <a:solidFill>
                  <a:srgbClr val="1D56A6"/>
                </a:solidFill>
                <a:latin typeface="NanumSquareRoundOTF Bold"/>
              </a:rPr>
              <a:t>Functions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1000" y="8686800"/>
            <a:ext cx="6400800" cy="2197100"/>
          </a:xfrm>
          <a:prstGeom prst="rect">
            <a:avLst/>
          </a:prstGeom>
        </p:spPr>
        <p:txBody>
          <a:bodyPr anchor="t"/>
          <a:lstStyle/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Function declarations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Return types and parameters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Call by value semantics</a:t>
            </a:r>
          </a:p>
          <a:p>
            <a:pPr lvl="0">
              <a:lnSpc>
                <a:spcPct val="124499"/>
              </a:lnSpc>
              <a:defRPr/>
            </a:pPr>
            <a:r>
              <a:rPr lang="en" sz="3300" b="0" i="0" u="none" strike="noStrike" spc="-8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Function pointers</a:t>
            </a:r>
          </a:p>
        </p:txBody>
      </p:sp>
      <p:sp>
        <p:nvSpPr>
          <p:cNvPr id="22" name="TextBox 9"/>
          <p:cNvSpPr txBox="1"/>
          <p:nvPr/>
        </p:nvSpPr>
        <p:spPr>
          <a:xfrm>
            <a:off x="7772400" y="304800"/>
            <a:ext cx="7696200" cy="1143000"/>
          </a:xfrm>
          <a:prstGeom prst="rect">
            <a:avLst/>
          </a:prstGeom>
        </p:spPr>
        <p:txBody>
          <a:bodyPr lIns="0" tIns="0" rIns="0" bIns="47412" anchor="b"/>
          <a:lstStyle/>
          <a:p>
            <a:pPr marL="0" lvl="0" indent="0" algn="ctr" defTabSz="914400" rtl="0" eaLnBrk="1" latinLnBrk="0" hangingPunct="1">
              <a:lnSpc>
                <a:spcPct val="996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7700" b="0" i="0" u="none" strike="noStrike" kern="1200" cap="none" spc="0" normalizeH="0" baseline="0">
                <a:solidFill>
                  <a:srgbClr val="1D56A6"/>
                </a:solidFill>
                <a:latin typeface="NanumSquareRoundOTF Bold"/>
              </a:rPr>
              <a:t>Syntax Basics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1585574"/>
            <a:ext cx="9505950" cy="496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0400" y="457200"/>
            <a:ext cx="16992600" cy="13030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tretch>
            <a:fillRect/>
          </a:stretch>
        </p:blipFill>
        <p:spPr>
          <a:xfrm>
            <a:off x="7239000" y="990600"/>
            <a:ext cx="14808200" cy="4914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>
            <a:alphaModFix amt="5000"/>
          </a:blip>
          <a:stretch>
            <a:fillRect/>
          </a:stretch>
        </p:blipFill>
        <p:spPr>
          <a:xfrm>
            <a:off x="7315200" y="6096000"/>
            <a:ext cx="16154400" cy="701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9400" y="383749"/>
            <a:ext cx="6502400" cy="1294850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04900" y="1371600"/>
            <a:ext cx="4914900" cy="2641600"/>
          </a:xfrm>
          <a:prstGeom prst="rect">
            <a:avLst/>
          </a:prstGeom>
        </p:spPr>
        <p:txBody>
          <a:bodyPr lIns="0" tIns="1015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8000" b="0" i="0" u="none" strike="noStrike" spc="80">
                <a:solidFill>
                  <a:srgbClr val="FFFFFF"/>
                </a:solidFill>
                <a:latin typeface="SB AggroOTF Bold"/>
              </a:rPr>
              <a:t>Memory in 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23199" y="1295400"/>
            <a:ext cx="7645400" cy="571500"/>
          </a:xfrm>
          <a:prstGeom prst="rect">
            <a:avLst/>
          </a:prstGeom>
        </p:spPr>
        <p:txBody>
          <a:bodyPr lIns="0" tIns="0" rIns="0" bIns="40638" anchor="b"/>
          <a:lstStyle/>
          <a:p>
            <a:pPr lvl="0" algn="ctr">
              <a:lnSpc>
                <a:spcPct val="99600"/>
              </a:lnSpc>
              <a:defRPr/>
            </a:pPr>
            <a:r>
              <a:rPr lang="en" sz="4000" b="0" i="0" u="none" strike="noStrike" spc="-64">
                <a:solidFill>
                  <a:srgbClr val="1D56A6"/>
                </a:solidFill>
                <a:latin typeface="NanumSquareRoundOTF Bold"/>
              </a:rPr>
              <a:t>Stack vs. Heap Allocation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75600" y="6572250"/>
            <a:ext cx="7645400" cy="571500"/>
          </a:xfrm>
          <a:prstGeom prst="rect">
            <a:avLst/>
          </a:prstGeom>
        </p:spPr>
        <p:txBody>
          <a:bodyPr lIns="0" tIns="0" rIns="0" bIns="40638" anchor="b"/>
          <a:lstStyle/>
          <a:p>
            <a:pPr lvl="0" algn="l">
              <a:lnSpc>
                <a:spcPct val="99600"/>
              </a:lnSpc>
              <a:defRPr/>
            </a:pPr>
            <a:r>
              <a:rPr lang="en" sz="4000" b="0" i="0" u="none" strike="noStrike" spc="-64">
                <a:solidFill>
                  <a:srgbClr val="1D56A6"/>
                </a:solidFill>
                <a:latin typeface="NanumSquareRoundOTF Bold"/>
              </a:rPr>
              <a:t>Dynamic Memory Functions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00200" y="6858000"/>
            <a:ext cx="4013200" cy="4787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78700" y="2501900"/>
            <a:ext cx="9626600" cy="2755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Stack: Automatic, fast allocation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Fixed size determined at compile time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Local variables stored her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Memory freed automatically when out of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8400" y="8153400"/>
            <a:ext cx="7645400" cy="327025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malloc(): Allocates requested bytes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calloc(): Allocates and initializes to zero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realloc(): Resizes allocated memory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400" b="0" i="0" u="none" strike="noStrike" spc="-88">
                <a:solidFill>
                  <a:srgbClr val="0B2236">
                    <a:alpha val="61180"/>
                  </a:srgbClr>
                </a:solidFill>
                <a:latin typeface="NanumSquareRoundOTF Regular"/>
              </a:rPr>
              <a:t>- free(): Releases allocated memory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213746" y="838200"/>
            <a:ext cx="5189054" cy="5334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5386156" y="6303915"/>
            <a:ext cx="7931044" cy="6650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50100" y="533400"/>
            <a:ext cx="16852900" cy="12877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543800" y="990600"/>
            <a:ext cx="5105400" cy="510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96200" y="7099300"/>
            <a:ext cx="4127500" cy="31115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C++ extends C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Objective-C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C# influenced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Java syntax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4">
            <a:alphaModFix amt="70000"/>
          </a:blip>
          <a:stretch>
            <a:fillRect/>
          </a:stretch>
        </p:blipFill>
        <p:spPr>
          <a:xfrm rot="16213138">
            <a:off x="14771944" y="6667454"/>
            <a:ext cx="9652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093700" y="7239000"/>
            <a:ext cx="4127500" cy="21971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Unix/Linux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Windows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Embedded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IoT devices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543800" y="11201400"/>
            <a:ext cx="1206500" cy="1206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973800" y="7239000"/>
            <a:ext cx="4127500" cy="21971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Influenced Go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Rust safety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Python's C API</a:t>
            </a:r>
          </a:p>
          <a:p>
            <a:pPr lvl="0" algn="ctr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Low-level access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3500" y="11201400"/>
            <a:ext cx="14744700" cy="12192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27">
                <a:solidFill>
                  <a:srgbClr val="1D56A6"/>
                </a:solidFill>
                <a:latin typeface="NanumSquareRoundOTF Bold"/>
              </a:rPr>
              <a:t>C remains foundational in modern computing, influencing countless languages and powering critical systems worldwide.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6">
            <a:alphaModFix amt="5000"/>
          </a:blip>
          <a:stretch>
            <a:fillRect/>
          </a:stretch>
        </p:blipFill>
        <p:spPr>
          <a:xfrm>
            <a:off x="8001000" y="1422400"/>
            <a:ext cx="4394200" cy="4394200"/>
          </a:xfrm>
          <a:prstGeom prst="rect">
            <a:avLst/>
          </a:prstGeom>
        </p:spPr>
      </p:pic>
      <p:pic>
        <p:nvPicPr>
          <p:cNvPr id="27" name="Picture 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79400" y="383749"/>
            <a:ext cx="6502400" cy="12948502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66800" y="635000"/>
            <a:ext cx="4914900" cy="3860800"/>
          </a:xfrm>
          <a:prstGeom prst="rect">
            <a:avLst/>
          </a:prstGeom>
        </p:spPr>
        <p:txBody>
          <a:bodyPr lIns="0" tIns="1015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8000" b="0" i="0" u="none" strike="noStrike" spc="80">
                <a:solidFill>
                  <a:schemeClr val="lt1"/>
                </a:solidFill>
                <a:latin typeface="SB AggroOTF Bold"/>
              </a:rPr>
              <a:t>C's Influence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8">
            <a:alphaModFix amt="70000"/>
          </a:blip>
          <a:stretch>
            <a:fillRect/>
          </a:stretch>
        </p:blipFill>
        <p:spPr>
          <a:xfrm rot="16200000">
            <a:off x="20535900" y="6642100"/>
            <a:ext cx="9652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9">
            <a:alphaModFix amt="70000"/>
          </a:blip>
          <a:stretch>
            <a:fillRect/>
          </a:stretch>
        </p:blipFill>
        <p:spPr>
          <a:xfrm rot="16200000">
            <a:off x="9486900" y="6642100"/>
            <a:ext cx="9652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242300" y="3327400"/>
            <a:ext cx="3949700" cy="596900"/>
          </a:xfrm>
          <a:prstGeom prst="rect">
            <a:avLst/>
          </a:prstGeom>
        </p:spPr>
        <p:txBody>
          <a:bodyPr anchor="ctr"/>
          <a:lstStyle/>
          <a:p>
            <a:pPr lvl="0" algn="ctr">
              <a:lnSpc>
                <a:spcPct val="124499"/>
              </a:lnSpc>
              <a:defRPr/>
            </a:pPr>
            <a:r>
              <a:rPr lang="en" sz="4500" b="0" i="0" u="none" strike="noStrike" spc="-33">
                <a:solidFill>
                  <a:schemeClr val="lt1"/>
                </a:solidFill>
                <a:latin typeface="NanumSquareRoundOTF Bold"/>
              </a:rPr>
              <a:t>Derivatives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0"/>
          <a:srcRect l="14270" t="3730" r="45810" b="3320"/>
          <a:stretch>
            <a:fillRect/>
          </a:stretch>
        </p:blipFill>
        <p:spPr>
          <a:xfrm>
            <a:off x="1143000" y="3429000"/>
            <a:ext cx="4648200" cy="95250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79399" y="1041399"/>
            <a:ext cx="5105400" cy="5105400"/>
          </a:xfrm>
          <a:prstGeom prst="rect">
            <a:avLst/>
          </a:prstGeom>
        </p:spPr>
      </p:pic>
      <p:pic>
        <p:nvPicPr>
          <p:cNvPr id="30" name="Picture 3"/>
          <p:cNvPicPr>
            <a:picLocks noChangeAspect="1"/>
          </p:cNvPicPr>
          <p:nvPr/>
        </p:nvPicPr>
        <p:blipFill rotWithShape="1">
          <a:blip r:embed="rId6">
            <a:alphaModFix amt="5000"/>
          </a:blip>
          <a:stretch>
            <a:fillRect/>
          </a:stretch>
        </p:blipFill>
        <p:spPr>
          <a:xfrm>
            <a:off x="13436599" y="1473199"/>
            <a:ext cx="4394200" cy="4394200"/>
          </a:xfrm>
          <a:prstGeom prst="rect">
            <a:avLst/>
          </a:prstGeom>
        </p:spPr>
      </p:pic>
      <p:sp>
        <p:nvSpPr>
          <p:cNvPr id="31" name="TextBox 23"/>
          <p:cNvSpPr txBox="1"/>
          <p:nvPr/>
        </p:nvSpPr>
        <p:spPr>
          <a:xfrm>
            <a:off x="13677899" y="3378200"/>
            <a:ext cx="3949700" cy="596900"/>
          </a:xfrm>
          <a:prstGeom prst="rect">
            <a:avLst/>
          </a:prstGeom>
        </p:spPr>
        <p:txBody>
          <a:bodyPr anchor="ctr"/>
          <a:lstStyle/>
          <a:p>
            <a:pPr marL="0" lvl="0" indent="0" algn="ctr" defTabSz="914400" rtl="0" eaLnBrk="1" latinLnBrk="0" hangingPunct="1">
              <a:lnSpc>
                <a:spcPct val="12449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4500" b="0" i="0" u="none" strike="noStrike" kern="1200" cap="none" spc="-33" normalizeH="0" baseline="0">
                <a:solidFill>
                  <a:schemeClr val="lt1"/>
                </a:solidFill>
                <a:latin typeface="NanumSquareRoundOTF Bold"/>
              </a:rPr>
              <a:t>Systems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516600" y="1016000"/>
            <a:ext cx="5105400" cy="5105400"/>
          </a:xfrm>
          <a:prstGeom prst="rect">
            <a:avLst/>
          </a:prstGeom>
        </p:spPr>
      </p:pic>
      <p:pic>
        <p:nvPicPr>
          <p:cNvPr id="33" name="Picture 3"/>
          <p:cNvPicPr>
            <a:picLocks noChangeAspect="1"/>
          </p:cNvPicPr>
          <p:nvPr/>
        </p:nvPicPr>
        <p:blipFill rotWithShape="1">
          <a:blip r:embed="rId6">
            <a:alphaModFix amt="5000"/>
          </a:blip>
          <a:stretch>
            <a:fillRect/>
          </a:stretch>
        </p:blipFill>
        <p:spPr>
          <a:xfrm>
            <a:off x="18973800" y="1447800"/>
            <a:ext cx="4394200" cy="4394200"/>
          </a:xfrm>
          <a:prstGeom prst="rect">
            <a:avLst/>
          </a:prstGeom>
        </p:spPr>
      </p:pic>
      <p:sp>
        <p:nvSpPr>
          <p:cNvPr id="34" name="TextBox 23"/>
          <p:cNvSpPr txBox="1"/>
          <p:nvPr/>
        </p:nvSpPr>
        <p:spPr>
          <a:xfrm>
            <a:off x="19215100" y="3352800"/>
            <a:ext cx="3949700" cy="596900"/>
          </a:xfrm>
          <a:prstGeom prst="rect">
            <a:avLst/>
          </a:prstGeom>
        </p:spPr>
        <p:txBody>
          <a:bodyPr anchor="ctr"/>
          <a:lstStyle/>
          <a:p>
            <a:pPr marL="0" lvl="0" indent="0" algn="ctr" defTabSz="914400" rtl="0" eaLnBrk="1" latinLnBrk="0" hangingPunct="1">
              <a:lnSpc>
                <a:spcPct val="12449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4500" b="0" i="0" u="none" strike="noStrike" kern="1200" cap="none" spc="-33" normalizeH="0" baseline="0">
                <a:solidFill>
                  <a:schemeClr val="lt1"/>
                </a:solidFill>
                <a:latin typeface="NanumSquareRoundOTF Bold"/>
              </a:rPr>
              <a:t>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1000" y="510200"/>
            <a:ext cx="6502400" cy="12748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50100" y="609600"/>
            <a:ext cx="16776700" cy="127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>
            <a:alphaModFix amt="7000"/>
          </a:blip>
          <a:stretch>
            <a:fillRect/>
          </a:stretch>
        </p:blipFill>
        <p:spPr>
          <a:xfrm>
            <a:off x="7467600" y="1066800"/>
            <a:ext cx="7607300" cy="1188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128000" y="6858000"/>
            <a:ext cx="6350000" cy="571500"/>
          </a:xfrm>
          <a:prstGeom prst="rect">
            <a:avLst/>
          </a:prstGeom>
        </p:spPr>
        <p:txBody>
          <a:bodyPr lIns="0" tIns="0" rIns="0" bIns="40638" anchor="b"/>
          <a:lstStyle/>
          <a:p>
            <a:pPr lvl="0" algn="ctr">
              <a:lnSpc>
                <a:spcPct val="99600"/>
              </a:lnSpc>
              <a:defRPr/>
            </a:pPr>
            <a:r>
              <a:rPr lang="en" sz="4500" b="0" i="0" u="none" strike="noStrike" spc="-64">
                <a:solidFill>
                  <a:schemeClr val="dk1"/>
                </a:solidFill>
                <a:latin typeface="NanumSquareRoundOTF Bold"/>
              </a:rPr>
              <a:t>Strengths of 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47000" y="7772400"/>
            <a:ext cx="6959600" cy="35814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High performance and efficiency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Portability across platforms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Low-level memory access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Small runtime footprint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>
            <a:alphaModFix amt="5000"/>
          </a:blip>
          <a:stretch>
            <a:fillRect/>
          </a:stretch>
        </p:blipFill>
        <p:spPr>
          <a:xfrm>
            <a:off x="15443200" y="1219200"/>
            <a:ext cx="8102600" cy="11734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306800" y="6858000"/>
            <a:ext cx="6350000" cy="571500"/>
          </a:xfrm>
          <a:prstGeom prst="rect">
            <a:avLst/>
          </a:prstGeom>
        </p:spPr>
        <p:txBody>
          <a:bodyPr lIns="0" tIns="0" rIns="0" bIns="40638" anchor="b"/>
          <a:lstStyle/>
          <a:p>
            <a:pPr lvl="0" algn="ctr">
              <a:lnSpc>
                <a:spcPct val="99600"/>
              </a:lnSpc>
              <a:defRPr/>
            </a:pPr>
            <a:r>
              <a:rPr lang="en" sz="4500" b="0" i="0" u="none" strike="noStrike" spc="-64">
                <a:solidFill>
                  <a:srgbClr val="332723"/>
                </a:solidFill>
                <a:latin typeface="NanumSquareRoundOTF Bold"/>
              </a:rPr>
              <a:t>Limitations of C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95400" y="6553200"/>
            <a:ext cx="4953000" cy="593137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697200" y="7848600"/>
            <a:ext cx="7607300" cy="30480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Manual memory management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Prone to buffer overflows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Limited built-in safety features</a:t>
            </a:r>
          </a:p>
          <a:p>
            <a:pPr lvl="0" algn="l">
              <a:lnSpc>
                <a:spcPct val="124499"/>
              </a:lnSpc>
              <a:defRPr/>
            </a:pPr>
            <a:r>
              <a:rPr lang="en" sz="3500" b="0" i="0" u="none" strike="noStrike" spc="-58">
                <a:solidFill>
                  <a:srgbClr val="000000">
                    <a:alpha val="61180"/>
                  </a:srgbClr>
                </a:solidFill>
                <a:latin typeface="NanumSquareRoundOTF Regular"/>
              </a:rPr>
              <a:t>- Lacks modern abstractions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1100" y="1981200"/>
            <a:ext cx="4914900" cy="2641600"/>
          </a:xfrm>
          <a:prstGeom prst="rect">
            <a:avLst/>
          </a:prstGeom>
        </p:spPr>
        <p:txBody>
          <a:bodyPr lIns="0" tIns="101599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" sz="8000" b="0" i="0" u="none" strike="noStrike" spc="80">
                <a:solidFill>
                  <a:srgbClr val="FFFFFF"/>
                </a:solidFill>
                <a:latin typeface="SB AggroOTF Bold"/>
              </a:rPr>
              <a:t>C: Pros &amp; Cons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696200" y="1752600"/>
            <a:ext cx="7114402" cy="4572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8"/>
          <a:srcRect l="10830" t="13750" r="9170" b="13750"/>
          <a:stretch>
            <a:fillRect/>
          </a:stretch>
        </p:blipFill>
        <p:spPr>
          <a:xfrm>
            <a:off x="15697200" y="1752600"/>
            <a:ext cx="769620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6600" y="838200"/>
            <a:ext cx="22898100" cy="12077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6600" y="812800"/>
            <a:ext cx="22898100" cy="2235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04800" y="8153400"/>
            <a:ext cx="22936198" cy="4191000"/>
          </a:xfrm>
          <a:prstGeom prst="rect">
            <a:avLst/>
          </a:prstGeom>
        </p:spPr>
        <p:txBody>
          <a:bodyPr lIns="0" tIns="81279" rIns="0" bIns="0" anchor="t"/>
          <a:lstStyle/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Even after more than 50 years, the C language remains at the heart of computing.</a:t>
            </a:r>
          </a:p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Its design has shaped modern programming languages and continues to power</a:t>
            </a:r>
          </a:p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operating systems, embedded devices, and performance-critical software.</a:t>
            </a:r>
          </a:p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While newer languages focus on simplicity and safety,</a:t>
            </a:r>
          </a:p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C’s efficiency, speed, and control still make it irreplaceable</a:t>
            </a:r>
          </a:p>
          <a:p>
            <a:pPr lvl="0" algn="ctr">
              <a:lnSpc>
                <a:spcPct val="96279"/>
              </a:lnSpc>
              <a:defRPr/>
            </a:pPr>
            <a:r>
              <a:rPr lang="en" sz="4500" b="0" i="0" u="none" strike="noStrike" spc="-3">
                <a:solidFill>
                  <a:srgbClr val="1D56A6"/>
                </a:solidFill>
                <a:latin typeface="SB AggroOTF Medium"/>
              </a:rPr>
              <a:t>for engineers who build the foundation of modern technology.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1295400"/>
            <a:ext cx="4597399" cy="1181100"/>
          </a:xfrm>
          <a:prstGeom prst="rect">
            <a:avLst/>
          </a:prstGeom>
        </p:spPr>
        <p:txBody>
          <a:bodyPr lIns="0" tIns="101601" rIns="0" bIns="0" anchor="t"/>
          <a:lstStyle/>
          <a:p>
            <a:pPr lvl="0" algn="l">
              <a:lnSpc>
                <a:spcPct val="96279"/>
              </a:lnSpc>
              <a:defRPr/>
            </a:pPr>
            <a:r>
              <a:rPr lang="en" sz="6666" b="0" i="0" u="none" strike="noStrike" spc="-200">
                <a:solidFill>
                  <a:srgbClr val="FFFFFF"/>
                </a:solidFill>
                <a:latin typeface="SB AggroOTF Bold"/>
              </a:rPr>
              <a:t>Conclusion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l="4730" t="7800" r="5410" b="12850"/>
          <a:stretch>
            <a:fillRect/>
          </a:stretch>
        </p:blipFill>
        <p:spPr>
          <a:xfrm>
            <a:off x="6324600" y="3124200"/>
            <a:ext cx="10633022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6600" y="838200"/>
            <a:ext cx="22898100" cy="12077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17600" y="1295400"/>
            <a:ext cx="4597399" cy="1181100"/>
          </a:xfrm>
          <a:prstGeom prst="rect">
            <a:avLst/>
          </a:prstGeom>
        </p:spPr>
        <p:txBody>
          <a:bodyPr lIns="0" tIns="101601" rIns="0" bIns="0" anchor="t"/>
          <a:lstStyle/>
          <a:p>
            <a:pPr lvl="0" algn="l">
              <a:lnSpc>
                <a:spcPct val="96279"/>
              </a:lnSpc>
              <a:defRPr/>
            </a:pPr>
            <a:r>
              <a:rPr lang="en" sz="6666" b="0" i="0" u="none" strike="noStrike" spc="-200">
                <a:solidFill>
                  <a:srgbClr val="FFFFFF"/>
                </a:solidFill>
                <a:latin typeface="SB AggroOTF Bold"/>
              </a:rPr>
              <a:t>Conclusion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62400" y="1246385"/>
            <a:ext cx="15849600" cy="1122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7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Macintosh PowerPoint</Application>
  <PresentationFormat>사용자 지정</PresentationFormat>
  <Paragraphs>121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NanumSquareRoundOTF Bold</vt:lpstr>
      <vt:lpstr>NanumSquareRoundOTF Regular</vt:lpstr>
      <vt:lpstr>SB AggroOTF Bold</vt:lpstr>
      <vt:lpstr>SB AggroOTF Medium</vt:lpstr>
      <vt:lpstr>SpoqaHanSans-Regular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minsic Ju</cp:lastModifiedBy>
  <cp:revision>39</cp:revision>
  <dcterms:created xsi:type="dcterms:W3CDTF">2006-08-16T00:00:00Z</dcterms:created>
  <dcterms:modified xsi:type="dcterms:W3CDTF">2026-05-20T23:56:11Z</dcterms:modified>
  <cp:version/>
</cp:coreProperties>
</file>